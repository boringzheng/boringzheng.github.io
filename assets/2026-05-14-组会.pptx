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trend_presence_search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800ms</c:v>
                  </c:pt>
                  <c:pt idx="1">
                    <c:v>600ms</c:v>
                  </c:pt>
                  <c:pt idx="2">
                    <c:v>400ms</c:v>
                  </c:pt>
                  <c:pt idx="3">
                    <c:v>300ms</c:v>
                  </c:pt>
                  <c:pt idx="4">
                    <c:v>200ms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99.9</c:v>
                </c:pt>
                <c:pt idx="1">
                  <c:v>100</c:v>
                </c:pt>
                <c:pt idx="2">
                  <c:v>80.4</c:v>
                </c:pt>
                <c:pt idx="3">
                  <c:v>95.1</c:v>
                </c:pt>
                <c:pt idx="4">
                  <c:v>93.2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internal_edge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800ms</c:v>
                  </c:pt>
                  <c:pt idx="1">
                    <c:v>600ms</c:v>
                  </c:pt>
                  <c:pt idx="2">
                    <c:v>400ms</c:v>
                  </c:pt>
                  <c:pt idx="3">
                    <c:v>300ms</c:v>
                  </c:pt>
                  <c:pt idx="4">
                    <c:v>200ms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98.1</c:v>
                </c:pt>
                <c:pt idx="1">
                  <c:v>98.9</c:v>
                </c:pt>
                <c:pt idx="2">
                  <c:v>62.1</c:v>
                </c:pt>
                <c:pt idx="3">
                  <c:v>62</c:v>
                </c:pt>
                <c:pt idx="4">
                  <c:v>59.3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64748B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 Hamming ≤1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800</c:v>
                  </c:pt>
                  <c:pt idx="1">
                    <c:v>600</c:v>
                  </c:pt>
                  <c:pt idx="2">
                    <c:v>400a</c:v>
                  </c:pt>
                  <c:pt idx="3">
                    <c:v>400w</c:v>
                  </c:pt>
                  <c:pt idx="4">
                    <c:v>300</c:v>
                  </c:pt>
                  <c:pt idx="5">
                    <c:v>200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92</c:v>
                </c:pt>
                <c:pt idx="5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 Hamming ≤2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800</c:v>
                  </c:pt>
                  <c:pt idx="1">
                    <c:v>600</c:v>
                  </c:pt>
                  <c:pt idx="2">
                    <c:v>400a</c:v>
                  </c:pt>
                  <c:pt idx="3">
                    <c:v>400w</c:v>
                  </c:pt>
                  <c:pt idx="4">
                    <c:v>300</c:v>
                  </c:pt>
                  <c:pt idx="5">
                    <c:v>200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85</c:v>
                </c:pt>
                <c:pt idx="4">
                  <c:v>99</c:v>
                </c:pt>
                <c:pt idx="5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C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64748B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892040"/>
            <a:ext cx="731520" cy="0"/>
          </a:xfrm>
          <a:prstGeom prst="line">
            <a:avLst/>
          </a:prstGeom>
          <a:noFill/>
          <a:ln w="2667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315200" y="4892040"/>
            <a:ext cx="777240" cy="-2468880"/>
          </a:xfrm>
          <a:prstGeom prst="line">
            <a:avLst/>
          </a:prstGeom>
          <a:noFill/>
          <a:ln w="2667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092440" y="2423160"/>
            <a:ext cx="731520" cy="0"/>
          </a:xfrm>
          <a:prstGeom prst="line">
            <a:avLst/>
          </a:prstGeom>
          <a:noFill/>
          <a:ln w="2667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823960" y="2423160"/>
            <a:ext cx="548640" cy="2194560"/>
          </a:xfrm>
          <a:prstGeom prst="line">
            <a:avLst/>
          </a:prstGeom>
          <a:noFill/>
          <a:ln w="2667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372600" y="4617720"/>
            <a:ext cx="685800" cy="0"/>
          </a:xfrm>
          <a:prstGeom prst="line">
            <a:avLst/>
          </a:prstGeom>
          <a:noFill/>
          <a:ln w="2667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058400" y="4617720"/>
            <a:ext cx="594360" cy="-1783080"/>
          </a:xfrm>
          <a:prstGeom prst="line">
            <a:avLst/>
          </a:prstGeom>
          <a:noFill/>
          <a:ln w="2667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652760" y="2834640"/>
            <a:ext cx="640080" cy="0"/>
          </a:xfrm>
          <a:prstGeom prst="line">
            <a:avLst/>
          </a:prstGeom>
          <a:noFill/>
          <a:ln w="2667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9808" y="950976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TD2 指标体系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与交替 XON 读侧瓶颈分析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86384" y="2487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从非理想方波响应，到趋势编码与块级纠错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" y="2990088"/>
            <a:ext cx="2148840" cy="0"/>
          </a:xfrm>
          <a:prstGeom prst="line">
            <a:avLst/>
          </a:prstGeom>
          <a:noFill/>
          <a:ln w="2794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7764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100-300ms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86384" y="4251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100→500 ramp-up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063240" y="3776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93.2%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063240" y="4251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200ms TP accuracy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74920" y="3776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74920" y="4251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200ms Hamming ≤2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86384" y="6016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2026-05-14 组会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本周结论可以合成一条主线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 XON 暴露短窗口绝对速率的不稳定，TD2 把目标改成趋势边界。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17007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机制事实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011680" y="1792224"/>
            <a:ext cx="502920" cy="0"/>
          </a:xfrm>
          <a:prstGeom prst="line">
            <a:avLst/>
          </a:prstGeom>
          <a:noFill/>
          <a:ln w="2794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6093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400ms 交替 XON 中，100→500 的上升沿被 server ramp-up 占据。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679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011680" y="2770632"/>
            <a:ext cx="502920" cy="0"/>
          </a:xfrm>
          <a:prstGeom prst="line">
            <a:avLst/>
          </a:prstGeom>
          <a:noFill/>
          <a:ln w="2794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25877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短窗口内高/低速状态不再是稳定阶跃，绝对阈值判定容易失真。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657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编码选择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011680" y="3749040"/>
            <a:ext cx="50292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3566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TD2 将 bit 放在 pair 内部的 low→high / high→low 趋势方向。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46360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指标落点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011680" y="4727448"/>
            <a:ext cx="50292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45445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TP 搜索吸收 jitter，用 Hamming ≤1/≤2 说明 block 可用性。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16736" y="1444752"/>
            <a:ext cx="0" cy="3886200"/>
          </a:xfrm>
          <a:prstGeom prst="line">
            <a:avLst/>
          </a:prstGeom>
          <a:noFill/>
          <a:ln w="15240">
            <a:solidFill>
              <a:srgbClr val="D7DEE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 XON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慢方向不是 500→100，而是 100→500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降速只需要本地少读；升速必须等 server 从低频阻塞节奏恢复。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500→100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100→500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41248" y="224028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8600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bucket 降到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10KB / 100ms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28600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 直接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 read()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791456" y="224028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228600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egress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快速下降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2487168" y="2651760"/>
            <a:ext cx="2743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62272" y="2651760"/>
            <a:ext cx="2743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9360" y="224028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28600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bucket 升到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50KB / 100ms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284464" y="224028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28600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buffer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很快读空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10259568" y="224028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69296" y="2286000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server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补给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955280" y="2651760"/>
            <a:ext cx="2743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30384" y="2651760"/>
            <a:ext cx="2743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14400" y="4160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≤100ms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14400" y="4636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下降沿可完成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65760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100-300ms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657600" y="4636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上升沿 ramp-up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766560" y="41605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8KB + 32KB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66560" y="46360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 / receive pipeline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914400" y="55046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结论：400ms 的 500 阶段会被 ramp-up 吃掉，500 稳态经常建立不起来。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读侧瓶颈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读侧瓶颈来自一条被反压控制的供给链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XON 改变 Tor 的消费速度，但高态是否成立取决于 server 是否能及时生产新数据。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207008" cy="786384"/>
          </a:xfrm>
          <a:prstGeom prst="roundRect">
            <a:avLst>
              <a:gd name="adj" fmla="val 4651"/>
            </a:avLst>
          </a:prstGeom>
          <a:solidFill>
            <a:srgbClr val="EEF4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20240"/>
            <a:ext cx="987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bucket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1947672" y="2267712"/>
            <a:ext cx="24688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67712" y="1874520"/>
            <a:ext cx="12070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920240"/>
            <a:ext cx="987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read()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529584" y="2267712"/>
            <a:ext cx="438912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41648" y="1874520"/>
            <a:ext cx="12070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1376" y="1920240"/>
            <a:ext cx="987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recv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buffer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303520" y="2267712"/>
            <a:ext cx="438912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15584" y="1874520"/>
            <a:ext cx="12070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1920240"/>
            <a:ext cx="987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advertised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077456" y="2267712"/>
            <a:ext cx="438912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1874520"/>
            <a:ext cx="12070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9248" y="1920240"/>
            <a:ext cx="987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SO_SNDBUF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851392" y="2267712"/>
            <a:ext cx="448056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72600" y="1874520"/>
            <a:ext cx="120700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C">
                <a:alpha val="9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2328" y="1920240"/>
            <a:ext cx="987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 read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scheduler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1234440" y="3401568"/>
            <a:ext cx="88696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triangl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3886200" y="3584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反压方向：bucket -&gt; window -&gt; server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21824" y="4425696"/>
            <a:ext cx="-87782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triangl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4617720" y="4599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数据方向：server -&gt; 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5376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~128ms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60120" y="5852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32KB / 250KB/s 小 buffer 反馈延迟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977640" y="5376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~1s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977640" y="5852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250KB / 250KB/s 大 buffer 隐藏队列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086600" y="53766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buffer 不是让所有切换都更快，而是让 egress 从“旧库存重放”变成“server 当前产出”。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波形预测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400ms 窗口里，高态常被 ramp-up 吃掉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 XON 的观测波形更像“100 平底 + 500 尖顶”，不是稳定方波。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7360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760720"/>
            <a:ext cx="6903720" cy="0"/>
          </a:xfrm>
          <a:prstGeom prst="line">
            <a:avLst/>
          </a:prstGeom>
          <a:noFill/>
          <a:ln w="7620">
            <a:solidFill>
              <a:srgbClr val="E8ED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882896"/>
            <a:ext cx="6903720" cy="0"/>
          </a:xfrm>
          <a:prstGeom prst="line">
            <a:avLst/>
          </a:prstGeom>
          <a:noFill/>
          <a:ln w="7620">
            <a:solidFill>
              <a:srgbClr val="E8ED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05072"/>
            <a:ext cx="6903720" cy="0"/>
          </a:xfrm>
          <a:prstGeom prst="line">
            <a:avLst/>
          </a:prstGeom>
          <a:noFill/>
          <a:ln w="7620">
            <a:solidFill>
              <a:srgbClr val="E8ED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27248"/>
            <a:ext cx="6903720" cy="0"/>
          </a:xfrm>
          <a:prstGeom prst="line">
            <a:avLst/>
          </a:prstGeom>
          <a:noFill/>
          <a:ln w="7620">
            <a:solidFill>
              <a:srgbClr val="E8ED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249424"/>
            <a:ext cx="6903720" cy="0"/>
          </a:xfrm>
          <a:prstGeom prst="line">
            <a:avLst/>
          </a:prstGeom>
          <a:noFill/>
          <a:ln w="7620">
            <a:solidFill>
              <a:srgbClr val="E8ED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371600"/>
            <a:ext cx="6903720" cy="0"/>
          </a:xfrm>
          <a:prstGeom prst="line">
            <a:avLst/>
          </a:prstGeom>
          <a:noFill/>
          <a:ln w="7620">
            <a:solidFill>
              <a:srgbClr val="E8ED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780353"/>
            <a:ext cx="2173872" cy="0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1152" y="4780353"/>
            <a:ext cx="5448" cy="-2677886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6600" y="2102467"/>
            <a:ext cx="2173872" cy="0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50472" y="2102467"/>
            <a:ext cx="5448" cy="2677886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55920" y="4780353"/>
            <a:ext cx="2173872" cy="0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9792" y="4780353"/>
            <a:ext cx="5448" cy="-2677886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780353"/>
            <a:ext cx="1634490" cy="0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31770" y="4780353"/>
            <a:ext cx="544830" cy="-602524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6600" y="4177828"/>
            <a:ext cx="544830" cy="-937260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1430" y="3240568"/>
            <a:ext cx="653796" cy="-836839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5226" y="2403729"/>
            <a:ext cx="653796" cy="-234315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9022" y="2169414"/>
            <a:ext cx="326898" cy="2510518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5920" y="4679932"/>
            <a:ext cx="544830" cy="100421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0750" y="4780353"/>
            <a:ext cx="1089660" cy="0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90410" y="4780353"/>
            <a:ext cx="544830" cy="-736419"/>
          </a:xfrm>
          <a:prstGeom prst="line">
            <a:avLst/>
          </a:prstGeom>
          <a:noFill/>
          <a:ln w="3429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1490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KB/s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178040" y="55412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 (ms)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188720" y="16276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理想方波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2148840" y="16276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读侧瓶颈后观测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886200" y="3694176"/>
            <a:ext cx="1005840" cy="-150876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828032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100→500 ramp-up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占据高态前半段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41080" y="16276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641080" y="2103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100ms windows to approach 500KB/s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641080" y="27614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641080" y="32369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100ms window to drop to 100KB/s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8641080" y="4069080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这解释了为什么短 slot 下不能只依赖绝对高低速阈值：边界位置和响应形状本身已经成了主要信号。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TD2 编码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TD2 把 bit 放在 pair 内部的变化方向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当绝对速率被 buffer 和 jitter 污染，趋势方向比阈值更稳定。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 1：low → high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960120" y="4133088"/>
            <a:ext cx="1261872" cy="0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1992" y="4133088"/>
            <a:ext cx="1280160" cy="-1627632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2505456"/>
            <a:ext cx="1261872" cy="0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4370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A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822192" y="2148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B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720840" y="16276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 0：high → low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720840" y="2505456"/>
            <a:ext cx="1261872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2712" y="2505456"/>
            <a:ext cx="1280160" cy="1627632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2872" y="4133088"/>
            <a:ext cx="1261872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2148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A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9582912" y="4370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B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989320" y="160020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541264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016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609844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 = 10101010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697480" y="5541264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016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5609844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repeat = 100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005072" y="5541264"/>
            <a:ext cx="1325880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016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5609844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bit = 2 slots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5504688" y="5541264"/>
            <a:ext cx="1691640" cy="292608"/>
          </a:xfrm>
          <a:prstGeom prst="roundRect">
            <a:avLst>
              <a:gd name="adj" fmla="val 15625"/>
            </a:avLst>
          </a:prstGeom>
          <a:solidFill>
            <a:srgbClr val="E8F7F4"/>
          </a:solidFill>
          <a:ln w="10160">
            <a:solidFill>
              <a:srgbClr val="0F766E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560984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检测对象 = trend edge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解码器对比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slot 下，trend_presence_search 更稳定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固定窗口 internal_edge 对响应 jitter 敏感；TP 搜索显式吸收 ±200ms 的短时偏移。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1389888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759952" y="1600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+33.1pp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759952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300ms: 95.1% vs 62.0%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8759952" y="26791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+33.9pp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759952" y="3154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200ms: 93.2% vs 59.3%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759952" y="41879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结论：低 slot 的主要困难不是“没有趋势”，而是固定窗口容易错过趋势。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块级指标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Hamming ≤1 / ≤2 更接近 block 是否可用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bit 判决有误差并不等于 8-bit block 不可恢复。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1389888"/>
          <a:ext cx="7452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732520" y="16276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732520" y="2103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200ms mean HD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8732520" y="2651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732520" y="31272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200ms Hamming ≤2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732520" y="36758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732520" y="41513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correctable error block rate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8732520" y="50474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汇报口径：bit accuracy 说明局部判决，Hamming ≤1/≤2 说明块级可用性，soft sum 说明整体 pattern 检测能力。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36422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3642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85216" y="384048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机制解释与 TD2 指标体系可以闭合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3504" y="89611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 XON 的非理想响应不是噪声背景，而是 TD2 设计的机制依据。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41832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700784" y="1682496"/>
            <a:ext cx="475488" cy="0"/>
          </a:xfrm>
          <a:prstGeom prst="line">
            <a:avLst/>
          </a:prstGeom>
          <a:noFill/>
          <a:ln w="2794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5087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100→500 是读侧供给瓶颈；500→100 是本地限读，响应更快。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41832" y="25694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700784" y="2660904"/>
            <a:ext cx="475488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871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TD2 避开短窗口绝对阈值，转向 pair 内部趋势方向。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41832" y="35478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1700784" y="3639312"/>
            <a:ext cx="475488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46557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accuracy、mean HD、Hamming ≤1/≤2、soft sum 分层报告。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41832" y="4526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700784" y="4617720"/>
            <a:ext cx="475488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4439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READ_POST / rwnd_limited，并做 16KB、32KB、64KB buffer 消融。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50976" y="5559552"/>
            <a:ext cx="9921240" cy="0"/>
          </a:xfrm>
          <a:prstGeom prst="line">
            <a:avLst/>
          </a:prstGeom>
          <a:noFill/>
          <a:ln w="12700">
            <a:solidFill>
              <a:srgbClr val="DD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5815584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016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5884164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READ_POST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157984" y="5815584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016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31136" y="588416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rwnd_limited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3547872" y="5815584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016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588416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buffer 消融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873752" y="5815584"/>
            <a:ext cx="1444752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016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588416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benign trace FPR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Research meeting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2026-05-14 组会</dc:title>
  <dc:subject>TD2 metrics and alternating XON read-side bottleneck analysis</dc:subject>
  <dc:creator>Borin</dc:creator>
  <cp:lastModifiedBy>Borin</cp:lastModifiedBy>
  <cp:revision>1</cp:revision>
  <dcterms:created xsi:type="dcterms:W3CDTF">2026-05-20T16:03:56Z</dcterms:created>
  <dcterms:modified xsi:type="dcterms:W3CDTF">2026-05-20T16:03:56Z</dcterms:modified>
</cp:coreProperties>
</file>